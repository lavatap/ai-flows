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9" d="100"/>
          <a:sy n="79" d="100"/>
        </p:scale>
        <p:origin x="2285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7251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今天讲三块：一条在本地跑的评审链、一个公司内部用的管线平台，还有平台上的 AI 对话和工单协作。以前代码写完直接推，评审是事后才有人看；现在 push 之前先过一遍 AI，有阻塞级问题就推不上去。不过我更想说的是另外三件事：评审标准统一了，新人第一次提交就能拿到完整反馈，团队反复踩的坑能留下来。后面按六块讲：背景、目标、方案、能力、验证、规划。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先看整体，这套东西是两部分。左边 ai-review，一条在本地跑的评审链：抓 git diff、调模型评审、判门禁、出报告、确认后推送。它完全跑在本地，代码不出内网；远端接 GitHub、Gitee 或者内网 GitLab 都行，换平台不用改代码。右边 AI-FLOWS，公司内部的管线平台：四个部门串成一条线，员工按部门干活、主管批准，平台里还长出了 AI 对话、工单协作和账号体系。两边共用同一套能力，评审逻辑只实现一次——这是后面结构能保持简单的前提。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说我们在解决什么。不是「有人写得差」，是三个更实在的问题。第一，标准不统一：同一份规范，不同的人松紧不一样，改动一多，风格、命名、边界处理全靠自觉，看不过来就滑过去了。第二，新人上手慢：团队的规范、项目的约定、踩过的坑，散在文档碎片和老同事脑子里，新人得靠几十次评审意见才摸清门道。第三，经验不沉淀：同一类问题在不同的人、不同的模块反复出现，评审意见躺在提交记录里没人整理，成不了团队的共同经验。所以 AI 评审要做的不是抓谁，是把这三件事一起提上来。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目标很直接：AI 评审是帮忙的，不是替代人。要做到四件事：统一标准，一套规则一种口径；新人上手快，第一次提交就拿到完整反馈，不用等 mentor 排期；经验留下来，常见问题和好做法写进配置；兜住红线，硬编码密钥、注入风险这类问题直接拦在 push 之前。不做的也明确：不替代人、不绑平台、不堆依赖、不自研模型。这里「不堆依赖」要说明一下——最早我们是一个运行时依赖都不装，数据直接写 JSON 文件；后来上了 SQLite，运行时依赖变成一个。这笔账我们认，换回来的是事务、并发安全和跨库查询，详情在后面「取舍」那页。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看一下整体结构。源码目录是平的，二十个文件，一个文件管一件事，分四层。最上面是入口层，index 一个文件管四个子命令：run 跑评审、serve 起报告服务、platform 起平台、install-hook 装钩子。中间是评审能力层，git、collector、reviewer、gate、reporter、publisher、redact 各管一段，彼此靠类型接口对接，没有循环依赖。再往下是平台与协作层，platform 管路由和权限，auth 管会话，chat、skill、crawler 管 AI 对话，richtext 管富文本净化。最下面是数据与配置层，sqlite 负责开库建表，db 是唯一的数据读写入口，config 管配置。分层的好处很实在：改页面模板不用碰评审逻辑，改权限模型不用碰评审链。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整条链是五步。第一步采集：按配置范围抓 git diff，按文件拆开，改动行数太大的文件降级成摘要评审，避免上下文超了。第二步评审：调兼容接口的模型，用并发池控制三路并发，避免触发限流，模型必须返回结构化 JSON。第三步门禁：命中阻塞级别就判不通过。第四步报告：同时出 Markdown 和可点的评审页面。第五步确认提交：评审通过不等于自动推送，得有人在页面上点确认，才真正推到远端。整条链都在本地，代码不出内网——这一点客户和投资方最关心。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这页讲一个工程上的约定：模型输出和页面渲染之间，隔一层视图模型。AI 返回的原始 JSON 先归一化成 ReviewResult，再过唯一的格式化接口变成 ReportView，模板只认 ReportView。好处有三个：换页面模板不用动评审逻辑；换模型不用动渲染逻辑；渲染层永远不知道模型的原始结构长什么样。还有个落地细节：评审结果落盘存的是数据不是 HTML，页面由常驻服务按需渲染。所以同一份报告可以换模板展示，历史报告也不会因为模板升级就打不开了。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讲存储。数据分三个库放：主库管账号、节点、配置，还有两张账号投影表，让对话和评审能按邮箱查到人；对话与评审库管会话、消息、模型清单和平台触发的评审记录；工单库管工单正文和评论。为什么要拆？因为这三块的生命周期和读写压力不一样，混在一张表里以后不好迁。实现上只有一个连接，开主库的时候把两个子库 ATTACH 进来，所以跨库 JOIN 是原生支持的，账号表直接和工单表连。两条纪律：所有子库的 SQL 都带 schema 前缀；开库建表只走一个入口，数据读写只走一个模块，别的地方不许裸写 SQL。图片和头像这类二进制还是落磁盘，库里只存文件名。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这页讲取舍，也是我们跟上一版最大的不同。上一版是一个运行时依赖都不装，数据直接写 JSON 文件，卖点是供应链绝对干净。但 JSON 存储到后面开始疼：并发写要自己加锁，改一条数据要整文件重写，账号和工单之间想做个关联查询得在内存里手拼。所以这一版引了 SQLite，运行时依赖从 0 变成 1。为什么只认它一个？因为它是原生绑定，不是纯 JS 依赖树，一个包解决事务、并发和跨库查询，风险面比引一堆包小得多。开发依赖四个，全是类型定义和编译工具，不跟着上线。源码二十个文件，全部能读，哪个文件出问题，影响也只在文件内部。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门禁靠退出码表达。0 是通过，push 继续；1 是有阻塞级问题，push 被拦下；2 是评审过了但推送失败，跟门禁结论分开，方便排查。为什么用退出码，而不是页面上弹个提示？因为 git 钩子只认这个——门禁不是一个能被忽略的提醒，是进程级的强制结果，绕不过去。哪些级别算阻塞可以配，默认只有 blocker。warning 和 info 只提示不拦，这点很关键：要是把风格问题也变成阻塞，工程师很快就学会绕门禁了，门禁也就没意义了。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这里是产品上最反直觉、也最值钱的一个设计：git push 一律先被拦下来。流程四步：第一，工程师照常执行 git push，不用记任何额外命令；第二，钩子拦截，在本地跑完整评审，打印出评审页面链接，这次推送被拦下；第三，人打开评审页面看结果；第四，在页面上填 commit 信息、点确认提交，才由评审服务代为推送。也就是说，评审通过不等于自动推送，必须有人确认——这一步把工具的判断和人的责任分开了。另外两个细节：内部推送会带一个环境变量标记，跳过自己装的钩子，免得死循环；确认提交必须填非空的 commit 信息，否则拒绝，防止误触。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评审结果是一页给人看的网页，不是一串日志。页面顶部是结论区：过了是 PASS 态，没过自动切成 BLOCK 态，并写明拦了几条。中间是六张指标卡：评审文件数、降级文件数、问题总数，还有阻塞、警告、建议三个级别的计数。下面每条问题都带文件路径和行号，点行号右边 diff 面板就高亮到那一行，工程师不用自己去代码里翻。整页是自包含的，样式内联，离线也能打开，还支持日间和夜间两套主题。右边放的是真实页面截图，演示的时候可以直接打开评审页面看。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做安全工具，自己不能先变成漏洞。第一层，密钥不进报告：模型可能把被评审代码里的密钥原样抄回来——工具本身不泄密，但它的输出会泄密。所以产出之前，摘要、消息、建议统一打码，密钥只留首尾各四位。第二层，AI 的话当外人看：模型返回的文本一律当不可信输入，插进 HTML 全部走转义；工单的正文和评论来自网页编辑器，落库前还要过一遍标签白名单，脚本、事件处理器、外链图片全部去掉。第三层，路径和文件名写死：报告和接口的 id 用字符白名单卡死，上传图片和头像的文件名由服务端生成十二位十六进制，只认固定格式，从根上免疫目录穿越。另外凭据只从环境变量读，配置文件里不许出现明文密钥；会话 Cookie 只走 HttpOnly 加 SameSite。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平台这边是一条线，串起四个部门。01 产品调研，用户研究部：把需求文本喂给外部的调研 agent，跑完把产出目录打包成 zip 落在节点上，点一下就能下载。02 产品策划案，也是用户研究部：跑产品策划 skill，产出一份 Markdown 策划案。03 AI 代码评审，程序中台，也就是刚才那条真实评审链，点执行就跑，出评审页面。04 运营，平台运营部，位置和权限都留好了，还没接。也就是说，四个节点里前三个已经能真跑，不是占位。为什么要做成节点，而不是一个单独的工具？因为评审本来就长在研发流程中间：前面有调研和策划，后面有运营。位置先固定下来，后面接能力就只是填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权限模型就两条规则，但够用。员工能看全流程，但只能执行和提交本部门的节点；部门主管不限部门，能执行所有节点，而且只有主管能验收通过或者驳回。另外三件事也收在主管手里：给节点加执行人、改别人的账号资料、审核 GitHub 绑定，还有切换工单状态。账号只有一个来源，就是数据库，不开放注册；现在有二十六个账号、七个部门、五位主管，邮箱是姓名拼音加一个虚拟后缀。演示期密码是统一的，上线前必须换成加盐哈希——这点我在规划那页还会提。最后强调一句：权限判定只有一个入口函数，前端按钮显不显示只是好看，服务端校验才算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节点有四个状态：待执行、执行中、待验收、已验收，对应代码里的 todo、running、in_review、done。跟上一版比，后两个状态改过名——原来是「已执行」和「已批准」，现在明确拆成「等验收」和「验收完」，因为跑完不等于交付，中间还有一步提交。两个细节值得说。第一，任务是异步跑的：点了执行先把状态落成「执行中」并马上返回，任务在后台跑完再回写结果，页面轮询自动刷新，请求不会一直挂着。第二，服务启动的时候，会把残留的「执行中」改回「待执行」，免得进程被中断之后节点一直卡着。回写结果之前会重新读一次库，避免覆盖期间其他节点的变更。状态对不上的动作，一律返回 409。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平台里还带了一个 AI 对话，不是个只会聊天的框。左边这四点：第一，能看，图片直接走多模态送进模型，文本和代码类附件会把正文读出来拼进 prompt；第二，能引用，可以把某一段历史对话当上下文一起问；第三，会话按账号隔离，每个人只看得见自己的会话，别人读不到；第四，历史长了会自动压缩，没纳入摘要的原文累计超过四百字，就把旧摘要和新原文合并重写一遍，这样上下文不会无限膨胀。右边两点是它能干活儿的地方：一是能调 skill，用 function calling 触发 .agents/skills 下的能力，纯文档型只把说明注进上下文，含脚本型会真的起进程去跑，执行进度通过 SSE 实时推到前端；二是产物能拿走，跑出来的文件直接给下载，超过一个自动打包成 zip。模型供应商内置了六家的端点，随时能换。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平台里还有一套工单，用来把口头的事变成能追的记录。三个点。第一，需求工单：每个管线节点都自动挂一张，缺了会幂等补上，节点面板上点一下就能跳到对应工单，需求和节点不会两头跑。第二，指派工单：主管把人加进某个节点的执行角色时，系统自动生成一张标题是「[执行] 步骤名」的指派工单，派活和建单是一件事。第三，讨论与贴图：工单正文和评论支持 @ 提及成员、直接贴图，图片只认本地上传，文件名由服务端生成固定格式。三条规矩：可见性按部门，员工只看本部门、主管看全量；状态只有主管能切；富文本落库前必须过一遍标签白名单。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最后一块能力是账号体系。GitHub 绑定走一条审核线：员工自己绑，先进「待审核」，主管批了才生效；主管自己绑是即刻生效的，也能直接审别人的绑定。个人主页是点任意头像就进，能看部门、职位、邮箱和绑定状态；团队页用来管成员资料、把员工加进执行角色；首页有个全局搜索，员工、工单、知识库都能搜。账号数量是二十六个，分布在七个部门，五位主管，不开放注册，只能主管改资料。头像可以自己上传，上限两兆，支持 png、jpg、gif、webp，没传就回退成首字配色的默认头像。这些看着是边角功能，但演示的时候很直观——点一个头像就跳主页，比翻表格有说服力。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验证不是看代码，是真跑。我们在一个真实仓库上造了三个例子。info 档是冗余封装，评审出三条建议，通过并推送。warning 档是键没校验、文件句柄没关，评审出三条警告加一条建议，通过。blocker 档是源码里硬编码了真实密钥，评审出两条阻塞级问题，push 被拦下，代码没进远端。还有一个后续处置值得说：文件已经进过提交历史，只加忽略清单不够，得用版本控制命令把它从索引和提交历史里摘掉，再重新推送。所以「阻塞级问题推不出去」这句话，是有实测数据撑着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质量保障这页，我想说的是克制。这个项目没有 linter、没有 formatter、也没有第三方测试框架，唯一的自动化门禁是 TypeScript 的 strict 类型检查。为什么？因为类型检查在这里性价比最高，其他工具带来的供应链风险和配置成本，不划算。纯函数还是有测试的，用 Node 自带的测试模块覆盖，一共六十四项，落在六个文件里：评审链的 JSON 提取、富文本净化、zip 打包、skill 提示组装，还有平台的权限判定和路径校验这些边界逻辑都有单测。评审链另外拿真模型做了端到端验证，就是上一页那三个例子。原则就一句：不追覆盖率数字，追关键路径真的跑通过，而且每引一样东西都要确认它不会带来新的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接下来分四步。近期，把运营节点接上：节点 04 接运营动作，位置和权限都已经留好了，填空就行。中期，把团队规范注进评审：现在的评审维度是内置的，我们要让评审按组织规范走，先从配置文件注入起步，再升级到规范目录和可复用的插件。上线前，安全债必须还掉：演示密码换成 scrypt 加盐哈希、清掉所有演示账号、补上凭据管理和权限审计日志——这是上线的前提，不能带债上线。再往后，把报告目录托管成团队共享服务，历史评审能搜、能回溯，慢慢形成团队自己的质量基线。存储那块已经不欠了，SQLite 这一版就把并发和关联查询的问题解决了。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收尾，三句话。第一，AI 评审不抓人，它做的是统一标准、让新人上手快、把经验留下来——这也是跟其他评审工具最大的不同：我们做的是帮忙的，不是监工。第二，评审放在 push 之前，人在里面，确认了才推——AI 会漏判也会误判，最后拍板的必须是人。第三，运行时依赖只留一个，安全是前提，不是加分项。记住这三点，今天的内容就串起来了。谢谢大家，接下来是提问时间。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 2">
            <a:extLst>
              <a:ext uri="{FF2B5EF4-FFF2-40B4-BE49-F238E27FC236}">
                <a16:creationId xmlns:a16="http://schemas.microsoft.com/office/drawing/2014/main" id="{234D16B0-2787-F289-3D06-AD389F41AEC4}"/>
              </a:ext>
            </a:extLst>
          </p:cNvPr>
          <p:cNvSpPr/>
          <p:nvPr/>
        </p:nvSpPr>
        <p:spPr>
          <a:xfrm>
            <a:off x="-6016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defTabSz="457200"/>
            <a:endParaRPr lang="zh-CN" altLang="en-US" sz="90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2823E72-5D7E-F933-3C98-E4E67F588F12}"/>
              </a:ext>
            </a:extLst>
          </p:cNvPr>
          <p:cNvGrpSpPr/>
          <p:nvPr/>
        </p:nvGrpSpPr>
        <p:grpSpPr>
          <a:xfrm>
            <a:off x="671842" y="1591689"/>
            <a:ext cx="8629650" cy="3176274"/>
            <a:chOff x="1028700" y="2917527"/>
            <a:chExt cx="17259300" cy="6352547"/>
          </a:xfrm>
        </p:grpSpPr>
        <p:grpSp>
          <p:nvGrpSpPr>
            <p:cNvPr id="28" name="Group 3">
              <a:extLst>
                <a:ext uri="{FF2B5EF4-FFF2-40B4-BE49-F238E27FC236}">
                  <a16:creationId xmlns:a16="http://schemas.microsoft.com/office/drawing/2014/main" id="{5C9C27F6-8776-D029-0429-43551E875921}"/>
                </a:ext>
              </a:extLst>
            </p:cNvPr>
            <p:cNvGrpSpPr/>
            <p:nvPr/>
          </p:nvGrpSpPr>
          <p:grpSpPr>
            <a:xfrm>
              <a:off x="1028700" y="2917527"/>
              <a:ext cx="12134029" cy="6233571"/>
              <a:chOff x="0" y="0"/>
              <a:chExt cx="16178705" cy="8311428"/>
            </a:xfrm>
          </p:grpSpPr>
          <p:sp>
            <p:nvSpPr>
              <p:cNvPr id="30" name="Freeform 4">
                <a:extLst>
                  <a:ext uri="{FF2B5EF4-FFF2-40B4-BE49-F238E27FC236}">
                    <a16:creationId xmlns:a16="http://schemas.microsoft.com/office/drawing/2014/main" id="{828A49E6-F44A-BFE7-7C79-98161F4A07BC}"/>
                  </a:ext>
                </a:extLst>
              </p:cNvPr>
              <p:cNvSpPr/>
              <p:nvPr/>
            </p:nvSpPr>
            <p:spPr>
              <a:xfrm>
                <a:off x="5139255" y="0"/>
                <a:ext cx="5984228" cy="8311428"/>
              </a:xfrm>
              <a:custGeom>
                <a:avLst/>
                <a:gdLst/>
                <a:ahLst/>
                <a:cxnLst/>
                <a:rect l="l" t="t" r="r" b="b"/>
                <a:pathLst>
                  <a:path w="5984228" h="8311428">
                    <a:moveTo>
                      <a:pt x="0" y="0"/>
                    </a:moveTo>
                    <a:lnTo>
                      <a:pt x="5984228" y="0"/>
                    </a:lnTo>
                    <a:lnTo>
                      <a:pt x="5984228" y="8311428"/>
                    </a:lnTo>
                    <a:lnTo>
                      <a:pt x="0" y="831142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alphaModFix amt="70000"/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pPr defTabSz="457200"/>
                <a:endParaRPr lang="zh-CN" altLang="en-US" sz="900">
                  <a:solidFill>
                    <a:prstClr val="black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Freeform 5">
                <a:extLst>
                  <a:ext uri="{FF2B5EF4-FFF2-40B4-BE49-F238E27FC236}">
                    <a16:creationId xmlns:a16="http://schemas.microsoft.com/office/drawing/2014/main" id="{E9B1C38D-0FAB-4A31-589A-37170285FD90}"/>
                  </a:ext>
                </a:extLst>
              </p:cNvPr>
              <p:cNvSpPr/>
              <p:nvPr/>
            </p:nvSpPr>
            <p:spPr>
              <a:xfrm>
                <a:off x="0" y="0"/>
                <a:ext cx="5651771" cy="8311428"/>
              </a:xfrm>
              <a:custGeom>
                <a:avLst/>
                <a:gdLst/>
                <a:ahLst/>
                <a:cxnLst/>
                <a:rect l="l" t="t" r="r" b="b"/>
                <a:pathLst>
                  <a:path w="5651771" h="8311428">
                    <a:moveTo>
                      <a:pt x="0" y="0"/>
                    </a:moveTo>
                    <a:lnTo>
                      <a:pt x="5651771" y="0"/>
                    </a:lnTo>
                    <a:lnTo>
                      <a:pt x="5651771" y="8311428"/>
                    </a:lnTo>
                    <a:lnTo>
                      <a:pt x="0" y="831142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alphaModFix amt="70000"/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pPr defTabSz="457200"/>
                <a:endParaRPr lang="zh-CN" altLang="en-US" sz="900">
                  <a:solidFill>
                    <a:prstClr val="black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32" name="Freeform 6">
                <a:extLst>
                  <a:ext uri="{FF2B5EF4-FFF2-40B4-BE49-F238E27FC236}">
                    <a16:creationId xmlns:a16="http://schemas.microsoft.com/office/drawing/2014/main" id="{6053D6BC-0E07-27FC-1425-7721CC5B1965}"/>
                  </a:ext>
                </a:extLst>
              </p:cNvPr>
              <p:cNvSpPr/>
              <p:nvPr/>
            </p:nvSpPr>
            <p:spPr>
              <a:xfrm>
                <a:off x="10526934" y="0"/>
                <a:ext cx="5651771" cy="8311428"/>
              </a:xfrm>
              <a:custGeom>
                <a:avLst/>
                <a:gdLst/>
                <a:ahLst/>
                <a:cxnLst/>
                <a:rect l="l" t="t" r="r" b="b"/>
                <a:pathLst>
                  <a:path w="5651771" h="8311428">
                    <a:moveTo>
                      <a:pt x="0" y="0"/>
                    </a:moveTo>
                    <a:lnTo>
                      <a:pt x="5651771" y="0"/>
                    </a:lnTo>
                    <a:lnTo>
                      <a:pt x="5651771" y="8311428"/>
                    </a:lnTo>
                    <a:lnTo>
                      <a:pt x="0" y="831142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alphaModFix amt="70000"/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pPr defTabSz="457200"/>
                <a:endParaRPr lang="zh-CN" altLang="en-US" sz="900">
                  <a:solidFill>
                    <a:prstClr val="black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9DCD294F-A529-35A8-C155-8204D0042F95}"/>
                </a:ext>
              </a:extLst>
            </p:cNvPr>
            <p:cNvSpPr/>
            <p:nvPr/>
          </p:nvSpPr>
          <p:spPr>
            <a:xfrm>
              <a:off x="12122432" y="3036503"/>
              <a:ext cx="6165568" cy="6233571"/>
            </a:xfrm>
            <a:custGeom>
              <a:avLst/>
              <a:gdLst/>
              <a:ahLst/>
              <a:cxnLst/>
              <a:rect l="l" t="t" r="r" b="b"/>
              <a:pathLst>
                <a:path w="9003267" h="9102567">
                  <a:moveTo>
                    <a:pt x="0" y="0"/>
                  </a:moveTo>
                  <a:lnTo>
                    <a:pt x="9003267" y="0"/>
                  </a:lnTo>
                  <a:lnTo>
                    <a:pt x="9003267" y="9102567"/>
                  </a:lnTo>
                  <a:lnTo>
                    <a:pt x="0" y="9102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55000"/>
              </a:blip>
              <a:stretch>
                <a:fillRect/>
              </a:stretch>
            </a:blipFill>
          </p:spPr>
          <p:txBody>
            <a:bodyPr/>
            <a:lstStyle/>
            <a:p>
              <a:pPr defTabSz="457200"/>
              <a:r>
                <a:rPr lang="en-US" altLang="zh-CN" sz="900" dirty="0">
                  <a:solidFill>
                    <a:prstClr val="black"/>
                  </a:solidFill>
                  <a:latin typeface="Calibri"/>
                  <a:ea typeface="宋体" panose="02010600030101010101" pitchFamily="2" charset="-122"/>
                </a:rPr>
                <a:t>z</a:t>
              </a:r>
              <a:endParaRPr lang="zh-CN" altLang="en-US" sz="9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2" name="Text 0"/>
          <p:cNvSpPr/>
          <p:nvPr/>
        </p:nvSpPr>
        <p:spPr>
          <a:xfrm>
            <a:off x="8046720" y="47594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chemeClr val="accent1">
                    <a:lumMod val="20000"/>
                    <a:lumOff val="80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AI-FLOWS · AI 管线平台</a:t>
            </a:r>
            <a:endParaRPr lang="en-US" sz="13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4000" b="1" kern="0" spc="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</a:rPr>
              <a:t>新</a:t>
            </a:r>
            <a:r>
              <a:rPr lang="en-US" sz="4000" b="1" kern="0" spc="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</a:rPr>
              <a:t>AI</a:t>
            </a:r>
            <a:r>
              <a:rPr lang="zh-CN" altLang="en-US" sz="4000" b="1" kern="0" spc="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</a:rPr>
              <a:t>时代的功能集成平台。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7889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r>
              <a:rPr lang="zh-CN" altLang="en-US" sz="150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代码评审 </a:t>
            </a:r>
            <a:r>
              <a:rPr lang="en-US" altLang="zh-CN" sz="150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r>
              <a:rPr lang="zh-CN" altLang="en-US" sz="150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业务工作流管线 知识库 工单系统</a:t>
            </a:r>
            <a:endParaRPr lang="en-US" sz="15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2">
            <a:extLst>
              <a:ext uri="{FF2B5EF4-FFF2-40B4-BE49-F238E27FC236}">
                <a16:creationId xmlns:a16="http://schemas.microsoft.com/office/drawing/2014/main" id="{253DFA2C-3916-E0FE-BE91-5F5B3F51E469}"/>
              </a:ext>
            </a:extLst>
          </p:cNvPr>
          <p:cNvGrpSpPr/>
          <p:nvPr/>
        </p:nvGrpSpPr>
        <p:grpSpPr>
          <a:xfrm>
            <a:off x="-182881" y="-190500"/>
            <a:ext cx="9431397" cy="5334000"/>
            <a:chOff x="0" y="0"/>
            <a:chExt cx="1444978" cy="812800"/>
          </a:xfrm>
        </p:grpSpPr>
        <p:sp>
          <p:nvSpPr>
            <p:cNvPr id="42" name="Freeform 3">
              <a:extLst>
                <a:ext uri="{FF2B5EF4-FFF2-40B4-BE49-F238E27FC236}">
                  <a16:creationId xmlns:a16="http://schemas.microsoft.com/office/drawing/2014/main" id="{F7EF7341-6CA3-D255-AB41-EC7D9169A093}"/>
                </a:ext>
              </a:extLst>
            </p:cNvPr>
            <p:cNvSpPr/>
            <p:nvPr/>
          </p:nvSpPr>
          <p:spPr>
            <a:xfrm>
              <a:off x="0" y="0"/>
              <a:ext cx="1444978" cy="812800"/>
            </a:xfrm>
            <a:custGeom>
              <a:avLst/>
              <a:gdLst/>
              <a:ahLst/>
              <a:cxnLst/>
              <a:rect l="l" t="t" r="r" b="b"/>
              <a:pathLst>
                <a:path w="1444978" h="812800">
                  <a:moveTo>
                    <a:pt x="0" y="0"/>
                  </a:moveTo>
                  <a:lnTo>
                    <a:pt x="1444978" y="0"/>
                  </a:lnTo>
                  <a:lnTo>
                    <a:pt x="144497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-6249" r="-43791" b="-33370"/>
              </a:stretch>
            </a:blipFill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3" name="Freeform 9">
            <a:extLst>
              <a:ext uri="{FF2B5EF4-FFF2-40B4-BE49-F238E27FC236}">
                <a16:creationId xmlns:a16="http://schemas.microsoft.com/office/drawing/2014/main" id="{6A1F62EB-C58C-A2FE-797B-A09570EB4601}"/>
              </a:ext>
            </a:extLst>
          </p:cNvPr>
          <p:cNvSpPr/>
          <p:nvPr/>
        </p:nvSpPr>
        <p:spPr>
          <a:xfrm>
            <a:off x="-2914650" y="-1126144"/>
            <a:ext cx="7748138" cy="8241609"/>
          </a:xfrm>
          <a:custGeom>
            <a:avLst/>
            <a:gdLst/>
            <a:ahLst/>
            <a:cxnLst/>
            <a:rect l="l" t="t" r="r" b="b"/>
            <a:pathLst>
              <a:path w="12982317" h="13125505">
                <a:moveTo>
                  <a:pt x="0" y="0"/>
                </a:moveTo>
                <a:lnTo>
                  <a:pt x="12982317" y="0"/>
                </a:lnTo>
                <a:lnTo>
                  <a:pt x="12982317" y="13125505"/>
                </a:lnTo>
                <a:lnTo>
                  <a:pt x="0" y="131255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046720" y="47594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118872" cy="310896"/>
          </a:xfrm>
          <a:prstGeom prst="rect">
            <a:avLst/>
          </a:prstGeom>
          <a:solidFill>
            <a:srgbClr val="00C8F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29768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8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全景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一个本地评审链，一个公司管线平台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3954780" cy="2148840"/>
          </a:xfrm>
          <a:prstGeom prst="roundRect">
            <a:avLst>
              <a:gd name="adj" fmla="val 297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837944"/>
            <a:ext cx="36621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ai-review —— 本地跑的评审链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9224" y="2221992"/>
            <a:ext cx="366217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 git diff → 模型评审 → 判门禁 → 出报告 → 确认后推送。全程在本地，代码不出内网；远端是 GitHub、Gitee 还是内网 GitLab 都行，换平台不用改代码。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86300" y="1691640"/>
            <a:ext cx="3954780" cy="2148840"/>
          </a:xfrm>
          <a:prstGeom prst="roundRect">
            <a:avLst>
              <a:gd name="adj" fmla="val 297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32604" y="1837944"/>
            <a:ext cx="36621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AI-FLOWS —— 公司内部的管线平台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32604" y="2221992"/>
            <a:ext cx="366217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四个部门串成一条线：员工做自己部门的环节，主管批准全流程。管线节点、AI 对话、工单协作、账号体系都在这一层。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406908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两边共用同一套能力 · 评审只实现一次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0149AE54-81E2-C75C-6BDC-A6891B192CAF}"/>
              </a:ext>
            </a:extLst>
          </p:cNvPr>
          <p:cNvGrpSpPr/>
          <p:nvPr/>
        </p:nvGrpSpPr>
        <p:grpSpPr>
          <a:xfrm>
            <a:off x="-891092" y="-609772"/>
            <a:ext cx="12612032" cy="9246093"/>
            <a:chOff x="-2259667" y="-2582864"/>
            <a:chExt cx="22468041" cy="14745860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8A294777-EBDF-CB25-C51E-5C1194783E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0800000">
              <a:off x="-2259667" y="-2550695"/>
              <a:ext cx="19984640" cy="14713691"/>
            </a:xfrm>
            <a:custGeom>
              <a:avLst/>
              <a:gdLst/>
              <a:ahLst/>
              <a:cxnLst/>
              <a:rect l="l" t="t" r="r" b="b"/>
              <a:pathLst>
                <a:path w="19984640" h="14713691">
                  <a:moveTo>
                    <a:pt x="0" y="0"/>
                  </a:moveTo>
                  <a:lnTo>
                    <a:pt x="19984640" y="0"/>
                  </a:lnTo>
                  <a:lnTo>
                    <a:pt x="19984640" y="14713691"/>
                  </a:lnTo>
                  <a:lnTo>
                    <a:pt x="0" y="14713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Box 12">
              <a:extLst>
                <a:ext uri="{FF2B5EF4-FFF2-40B4-BE49-F238E27FC236}">
                  <a16:creationId xmlns:a16="http://schemas.microsoft.com/office/drawing/2014/main" id="{2EC00B28-28AC-14E2-0B76-A65DC9A4DA3C}"/>
                </a:ext>
              </a:extLst>
            </p:cNvPr>
            <p:cNvSpPr txBox="1"/>
            <p:nvPr/>
          </p:nvSpPr>
          <p:spPr>
            <a:xfrm>
              <a:off x="2729489" y="3896856"/>
              <a:ext cx="13395987" cy="51829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0780"/>
                </a:lnSpc>
              </a:pPr>
              <a:endParaRPr lang="en-US" sz="9600" b="1" spc="-1769" dirty="0">
                <a:solidFill>
                  <a:srgbClr val="000000"/>
                </a:solidFill>
                <a:latin typeface="Rockwell Extra Bold" panose="02060903040505020403" pitchFamily="18" charset="0"/>
                <a:ea typeface="Telegraf Bold"/>
                <a:cs typeface="Telegraf Bold"/>
                <a:sym typeface="Telegraf Bold"/>
              </a:endParaRPr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17BEC152-431A-4724-5DA9-0AFD6BC797BD}"/>
                </a:ext>
              </a:extLst>
            </p:cNvPr>
            <p:cNvSpPr/>
            <p:nvPr/>
          </p:nvSpPr>
          <p:spPr>
            <a:xfrm>
              <a:off x="8679877" y="-2582864"/>
              <a:ext cx="11528497" cy="11655649"/>
            </a:xfrm>
            <a:custGeom>
              <a:avLst/>
              <a:gdLst/>
              <a:ahLst/>
              <a:cxnLst/>
              <a:rect l="l" t="t" r="r" b="b"/>
              <a:pathLst>
                <a:path w="11528496" h="11655649">
                  <a:moveTo>
                    <a:pt x="0" y="0"/>
                  </a:moveTo>
                  <a:lnTo>
                    <a:pt x="11528496" y="0"/>
                  </a:lnTo>
                  <a:lnTo>
                    <a:pt x="11528496" y="11655648"/>
                  </a:lnTo>
                  <a:lnTo>
                    <a:pt x="0" y="11655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ext 0"/>
          <p:cNvSpPr/>
          <p:nvPr/>
        </p:nvSpPr>
        <p:spPr>
          <a:xfrm>
            <a:off x="8046720" y="47594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23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118872" cy="3108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29768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代码质量上不去，不全是人的问题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256032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792224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标准不统一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9224" y="2176272"/>
            <a:ext cx="2267712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同一份规范，不同的人松紧不一样。改动一多，风格、命名、边界处理全靠自觉，看不过来就滑过去了。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645920"/>
            <a:ext cx="256032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38144" y="1792224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新人上手慢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38144" y="2176272"/>
            <a:ext cx="2267712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团队的规范、项目的约定、踩过的坑，散在文档碎片和老同事脑子里。新人得靠几十次评审意见才摸清门道。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645920"/>
            <a:ext cx="256032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27064" y="1792224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经验不沉淀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27064" y="2176272"/>
            <a:ext cx="2267712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同一类问题，在不同的人、不同的模块反复出现。评审意见躺在提交记录里，没人整理，成不了团队的共同经验。</a:t>
            </a:r>
            <a:endParaRPr lang="en-US" sz="105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8C6C488E-7B6F-6E4C-6CAA-336E480BEFE5}"/>
              </a:ext>
            </a:extLst>
          </p:cNvPr>
          <p:cNvSpPr/>
          <p:nvPr/>
        </p:nvSpPr>
        <p:spPr>
          <a:xfrm>
            <a:off x="805641" y="4000679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代码质量上不去，不全是人的问题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94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23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118872" cy="3108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29768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评审做什么，不做什么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909060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28800"/>
            <a:ext cx="73152" cy="25146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38528"/>
            <a:ext cx="3543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要做到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35433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统一标准 — 一套规则、一种口径，不因人而异</a:t>
            </a:r>
            <a:endParaRPr lang="en-US" sz="1200" dirty="0"/>
          </a:p>
          <a:p>
            <a:pPr marL="152400" indent="-152400">
              <a:lnSpc>
                <a:spcPct val="12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新人上手快 — 第一次提交就拿到完整反馈</a:t>
            </a:r>
            <a:endParaRPr lang="en-US" sz="1200" dirty="0"/>
          </a:p>
          <a:p>
            <a:pPr marL="152400" indent="-152400">
              <a:lnSpc>
                <a:spcPct val="12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经验留下来 — 常见问题和好做法写进配置，新人直接继承</a:t>
            </a:r>
            <a:endParaRPr lang="en-US" sz="1200" dirty="0"/>
          </a:p>
          <a:p>
            <a:pPr marL="152400" indent="-152400">
              <a:lnSpc>
                <a:spcPct val="12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兜住红线 — 阻塞级问题推不上去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32020" y="1828800"/>
            <a:ext cx="3909060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32020" y="1828800"/>
            <a:ext cx="73152" cy="2514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4914900" y="1938528"/>
            <a:ext cx="3543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14900" y="2331720"/>
            <a:ext cx="35433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不替代人 — 架构怎么定还是人说了算</a:t>
            </a:r>
            <a:endParaRPr lang="en-US" sz="1200" dirty="0"/>
          </a:p>
          <a:p>
            <a:pPr marL="152400" indent="-152400">
              <a:lnSpc>
                <a:spcPct val="12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不绑平台 — GitHub、Gitee、内网 GitLab 都能接</a:t>
            </a:r>
            <a:endParaRPr lang="en-US" sz="1200" dirty="0"/>
          </a:p>
          <a:p>
            <a:pPr marL="152400" indent="-152400">
              <a:lnSpc>
                <a:spcPct val="12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不堆依赖 — 运行时依赖只留一个，其余自己写</a:t>
            </a:r>
            <a:endParaRPr lang="en-US" sz="1200" dirty="0"/>
          </a:p>
          <a:p>
            <a:pPr marL="152400" indent="-152400">
              <a:lnSpc>
                <a:spcPct val="12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不自研模型 — 走兼容接口，供应商随时能换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94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23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118872" cy="3108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29768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· 架构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二十个文件，一个文件管一件事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源码目录是平的，一个文件管一件事，文件之间靠类型接口对接。改页面不用动评审逻辑，改权限不用动评审链。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入口只管调度，不写业务；能力层各管一段；平台层只关心登录、节点、权限和协作。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49240" y="1691640"/>
            <a:ext cx="3291840" cy="2788920"/>
          </a:xfrm>
          <a:prstGeom prst="roundRect">
            <a:avLst>
              <a:gd name="adj" fmla="val 2295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181051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532120" y="221284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32120" y="245973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index —— run / serve / platform / install-hook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532120" y="277977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评审链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32120" y="30266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采集、评审、门禁、报告、推送各管一段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532120" y="334670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平台与协作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32120" y="3593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登录、节点、权限、对话、skill、工单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532120" y="391363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数据与配置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32120" y="4160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 SQLite 库 + 配置加载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94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23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118872" cy="310896"/>
          </a:xfrm>
          <a:prstGeom prst="rect">
            <a:avLst/>
          </a:prstGeom>
          <a:solidFill>
            <a:srgbClr val="00C8F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29768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8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· 链路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从抓 diff 到推上去，一共五步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整条链都在本地跑，代码不出内网。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1495958" cy="2286000"/>
          </a:xfrm>
          <a:prstGeom prst="roundRect">
            <a:avLst>
              <a:gd name="adj" fmla="val 427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2112264"/>
            <a:ext cx="12033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采集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" y="2423160"/>
            <a:ext cx="120335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按配置范围抓 diff，按文件拆开；改动太大的文件只做摘要评审。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63470" y="1965960"/>
            <a:ext cx="1495958" cy="2286000"/>
          </a:xfrm>
          <a:prstGeom prst="roundRect">
            <a:avLst>
              <a:gd name="adj" fmla="val 427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09774" y="2112264"/>
            <a:ext cx="12033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评审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09774" y="2423160"/>
            <a:ext cx="120335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调兼容接口的模型，三路并发，避免被限流；模型必须返回结构化 JSON。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24021" y="1965960"/>
            <a:ext cx="1495958" cy="2286000"/>
          </a:xfrm>
          <a:prstGeom prst="roundRect">
            <a:avLst>
              <a:gd name="adj" fmla="val 427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0325" y="2112264"/>
            <a:ext cx="12033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门禁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70325" y="2423160"/>
            <a:ext cx="120335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命中阻塞级别就判不通过，结果用退出码表达。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4571" y="1965960"/>
            <a:ext cx="1495958" cy="2286000"/>
          </a:xfrm>
          <a:prstGeom prst="roundRect">
            <a:avLst>
              <a:gd name="adj" fmla="val 427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30875" y="2112264"/>
            <a:ext cx="12033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报告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30875" y="2423160"/>
            <a:ext cx="120335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同时出 Markdown 和可点的评审页面；落盘存数据，不存 HTML。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45122" y="1965960"/>
            <a:ext cx="1495958" cy="2286000"/>
          </a:xfrm>
          <a:prstGeom prst="roundRect">
            <a:avLst>
              <a:gd name="adj" fmla="val 427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91426" y="2112264"/>
            <a:ext cx="12033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确认提交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91426" y="2423160"/>
            <a:ext cx="120335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通过之后，人在页面上点确认，才真正推到远端。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94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23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118872" cy="3108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29768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· 数据约定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模型返回的东西，不直接进页面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返回的原始 JSON，不直接塞进模板。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4297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换页面模板，不用动评审逻辑</a:t>
            </a:r>
            <a:endParaRPr lang="en-US" sz="1200" dirty="0"/>
          </a:p>
          <a:p>
            <a:pPr marL="152400" indent="-152400">
              <a:lnSpc>
                <a:spcPct val="12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换模型供应商，不用动渲染逻辑</a:t>
            </a:r>
            <a:endParaRPr lang="en-US" sz="1200" dirty="0"/>
          </a:p>
          <a:p>
            <a:pPr marL="152400" indent="-152400">
              <a:lnSpc>
                <a:spcPct val="12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渲染层只认视图模型，不知道原始结构长什么样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74920" y="1965960"/>
            <a:ext cx="3566160" cy="2468880"/>
          </a:xfrm>
          <a:prstGeom prst="roundRect">
            <a:avLst>
              <a:gd name="adj" fmla="val 2593"/>
            </a:avLst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49240" y="2148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原始 JSON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49240" y="24597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normalizeIssues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49240" y="27706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ReviewResult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49240" y="3081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formatReport  ← 唯一格式化接口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49240" y="33924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ReportView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49240" y="37033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renderTemplate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49240" y="401421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 / Markdown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94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23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118872" cy="3108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29768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· 存储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数据分三个库，各管一摊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主库开一个连接，再挂两个子库，跨库查询直接写全限定名。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256032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2203704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" y="2587752"/>
            <a:ext cx="226771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db/ai-flows.sqlite —— 账号、节点、配置，外加两张账号投影表，供对话和评审按邮箱查。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2057400"/>
            <a:ext cx="256032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2203704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对话与评审库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38144" y="2587752"/>
            <a:ext cx="226771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db/ai-chat-reviews.sqlite —— 会话、消息、模型清单，以及平台触发的评审记录。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2057400"/>
            <a:ext cx="256032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7064" y="2203704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27064" y="2587752"/>
            <a:ext cx="226771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db/ai-tickets.sqlite —— 工单正文与评论。图片和头像还是落盘，库里只存文件名。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34340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子库 SQL 一律带 schema 前缀 · 账号表可以跨库 JOIN · 旧 JSON 只做首次导入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94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23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118872" cy="3108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29768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取舍 · 依赖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运行时依赖只留一个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除了 SQLite 绑定，其余能力全用 Node 自带模块写；数据放本地库，前端不用框架。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25603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2340864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9224" y="2944368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运行时依赖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" y="3200400"/>
            <a:ext cx="226771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better-sqlite3 · 换掉手写 JSON，换来事务和跨库查询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2194560"/>
            <a:ext cx="25603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38144" y="2340864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438144" y="2944368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开发依赖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38144" y="3200400"/>
            <a:ext cx="226771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类型定义与编译工具 · 不跟着上线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2194560"/>
            <a:ext cx="25603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2340864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227064" y="2944368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源码文件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27064" y="3200400"/>
            <a:ext cx="226771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全部能读 · 出问题也只在文件内部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94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23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118872" cy="310896"/>
          </a:xfrm>
          <a:prstGeom prst="rect">
            <a:avLst/>
          </a:prstGeom>
          <a:solidFill>
            <a:srgbClr val="00C8F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29768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8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 · 门禁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放行还是拦截，就看一个退出码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2560320" cy="2194560"/>
          </a:xfrm>
          <a:prstGeom prst="roundRect">
            <a:avLst>
              <a:gd name="adj" fmla="val 29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837944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· 通过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9224" y="2221992"/>
            <a:ext cx="226771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没命中阻塞级问题，push 继续，代码进远端。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2560320" cy="2194560"/>
          </a:xfrm>
          <a:prstGeom prst="roundRect">
            <a:avLst>
              <a:gd name="adj" fmla="val 29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38144" y="1837944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· 拦截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38144" y="2221992"/>
            <a:ext cx="226771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有阻塞级问题，push 被拦下，代码只留在本地。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691640"/>
            <a:ext cx="2560320" cy="2194560"/>
          </a:xfrm>
          <a:prstGeom prst="roundRect">
            <a:avLst>
              <a:gd name="adj" fmla="val 29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27064" y="1837944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· 推送失败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27064" y="2221992"/>
            <a:ext cx="226771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评审过了但推送失败，跟门禁结论分开，方便排查。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406908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哪些级别算阻塞可以配 · 默认只有 blocker · warning 和 info 只提示，不拦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94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23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118872" cy="310896"/>
          </a:xfrm>
          <a:prstGeom prst="rect">
            <a:avLst/>
          </a:prstGeom>
          <a:solidFill>
            <a:srgbClr val="00C8F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29768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8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 · 拦截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 push 都先拦一下，人点了确认才放行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1897380" cy="2377440"/>
          </a:xfrm>
          <a:prstGeom prst="roundRect">
            <a:avLst>
              <a:gd name="adj" fmla="val 33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883664"/>
            <a:ext cx="16047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git push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" y="2194560"/>
            <a:ext cx="1604772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工程师照常推送，不用记额外命令。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83180" y="1737360"/>
            <a:ext cx="1897380" cy="2377440"/>
          </a:xfrm>
          <a:prstGeom prst="roundRect">
            <a:avLst>
              <a:gd name="adj" fmla="val 33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9484" y="1883664"/>
            <a:ext cx="16047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钩子拦截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29484" y="2194560"/>
            <a:ext cx="1604772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本地跑完整评审，打印评审页面链接，这次推送被拦下。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737360"/>
            <a:ext cx="1897380" cy="2377440"/>
          </a:xfrm>
          <a:prstGeom prst="roundRect">
            <a:avLst>
              <a:gd name="adj" fmla="val 33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1883664"/>
            <a:ext cx="16047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人看结果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9744" y="2194560"/>
            <a:ext cx="1604772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打开评审页面，看结论、指标和逐条问题。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43700" y="1737360"/>
            <a:ext cx="1897380" cy="2377440"/>
          </a:xfrm>
          <a:prstGeom prst="roundRect">
            <a:avLst>
              <a:gd name="adj" fmla="val 33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90004" y="1883664"/>
            <a:ext cx="16047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确认提交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90004" y="2194560"/>
            <a:ext cx="1604772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 commit 信息，点确认，由评审服务代为推送。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94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118872" cy="3108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29768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 · 报告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评审结果是一页网页，不是一堆日志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8138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结论区两种状态：过了是 PASS，没过自动变 BLOCK，并写明拦了几条</a:t>
            </a:r>
            <a:endParaRPr lang="en-US" sz="1200" dirty="0"/>
          </a:p>
          <a:p>
            <a:pPr marL="152400" indent="-152400">
              <a:lnSpc>
                <a:spcPct val="12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六张指标卡：文件数、降级数、问题总数，以及三个级别的计数</a:t>
            </a:r>
            <a:endParaRPr lang="en-US" sz="1200" dirty="0"/>
          </a:p>
          <a:p>
            <a:pPr marL="152400" indent="-152400">
              <a:lnSpc>
                <a:spcPct val="12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点问题行号，右边 diff 面板高亮到那一行，不用自己去代码里翻</a:t>
            </a:r>
            <a:endParaRPr lang="en-US" sz="1200" dirty="0"/>
          </a:p>
          <a:p>
            <a:pPr marL="152400" indent="-152400">
              <a:lnSpc>
                <a:spcPct val="12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自包含单文件，样式内联，日间夜间两套主题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94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118872" cy="3108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29768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 · 安全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工具自己不能变成漏洞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256032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837944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密钥不进报告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9224" y="2221992"/>
            <a:ext cx="226771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模型可能把被评审代码里的密钥原样抄回来。所以产出之前，摘要、消息、建议统一打码，密钥只留首尾各 4 位。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256032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38144" y="1837944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的话当外人看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38144" y="2221992"/>
            <a:ext cx="226771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模型返回的文本一律当不可信输入，插进 HTML 全部转义；工单正文和评论还要再过一遍标签白名单。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691640"/>
            <a:ext cx="256032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27064" y="1837944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路径和文件名写死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27064" y="2221992"/>
            <a:ext cx="226771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报告和接口的 id 用字符白名单卡死；上传图片和头像的文件名由服务端生成，只认固定格式。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40233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凭据只从环境变量读 · 会话 Cookie 只走 HttpOnly + SameSite · 路径段先解码再校验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94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118872" cy="310896"/>
          </a:xfrm>
          <a:prstGeom prst="rect">
            <a:avLst/>
          </a:prstGeom>
          <a:solidFill>
            <a:srgbClr val="00C8F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29768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8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 · 平台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四个部门，串成一条线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1897380" cy="2377440"/>
          </a:xfrm>
          <a:prstGeom prst="roundRect">
            <a:avLst>
              <a:gd name="adj" fmla="val 33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883664"/>
            <a:ext cx="16047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产品调研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" y="2194560"/>
            <a:ext cx="1604772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用户研究部。需求文本喂给外部调研 agent，跑完把产物打包成 zip。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83180" y="1737360"/>
            <a:ext cx="1897380" cy="2377440"/>
          </a:xfrm>
          <a:prstGeom prst="roundRect">
            <a:avLst>
              <a:gd name="adj" fmla="val 33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9484" y="1883664"/>
            <a:ext cx="16047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产品策划案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29484" y="2194560"/>
            <a:ext cx="1604772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用户研究部。跑产品策划 skill，产出 Markdown 策划案。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737360"/>
            <a:ext cx="1897380" cy="2377440"/>
          </a:xfrm>
          <a:prstGeom prst="roundRect">
            <a:avLst>
              <a:gd name="adj" fmla="val 3373"/>
            </a:avLst>
          </a:prstGeom>
          <a:solidFill>
            <a:srgbClr val="E0F9FF"/>
          </a:solidFill>
          <a:ln w="19050">
            <a:solidFill>
              <a:srgbClr val="00C8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1883664"/>
            <a:ext cx="16047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AI 代码评审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9744" y="2194560"/>
            <a:ext cx="1604772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程序中台。点执行就跑真实评审链，出评审页面和报告。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43700" y="1737360"/>
            <a:ext cx="1897380" cy="2377440"/>
          </a:xfrm>
          <a:prstGeom prst="roundRect">
            <a:avLst>
              <a:gd name="adj" fmla="val 33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90004" y="1883664"/>
            <a:ext cx="16047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运营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90004" y="2194560"/>
            <a:ext cx="1604772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平台运营部。位置和权限都留好了，等接入。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94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23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118872" cy="3108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29768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 · 权限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员工管本部门，主管管全流程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权限两条规则：执行按部门分，批准收在主管手里。工单状态也只有主管能切。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8138160" cy="2779776"/>
        </p:xfrm>
        <a:graphic>
          <a:graphicData uri="http://schemas.openxmlformats.org/drawingml/2006/table">
            <a:tbl>
              <a:tblPr/>
              <a:tblGrid>
                <a:gridCol w="2712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2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2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员工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部门主管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查看管线全流程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执行本部门节点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可以（限本部门）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可以（不限部门）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提交节点等验收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可以（限本部门）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验收通过 / 驳回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不可以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可以（全部节点）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给节点加执行人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不可以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改账号资料、审 GitHub 绑定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不可以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切换工单状态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不可以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94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118872" cy="310896"/>
          </a:xfrm>
          <a:prstGeom prst="rect">
            <a:avLst/>
          </a:prstGeom>
          <a:solidFill>
            <a:srgbClr val="00C8F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29768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8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 · 节点状态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节点卡住了？重启一下就好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1897380" cy="2103120"/>
          </a:xfrm>
          <a:prstGeom prst="roundRect">
            <a:avLst>
              <a:gd name="adj" fmla="val 33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837944"/>
            <a:ext cx="16047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待执行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9224" y="2221992"/>
            <a:ext cx="160477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todo。初始状态，有权限的人可以点执行。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83180" y="1691640"/>
            <a:ext cx="1897380" cy="2103120"/>
          </a:xfrm>
          <a:prstGeom prst="roundRect">
            <a:avLst>
              <a:gd name="adj" fmla="val 33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9484" y="1837944"/>
            <a:ext cx="16047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执行中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29484" y="2221992"/>
            <a:ext cx="160477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running。先落状态马上返回，任务在后台跑，页面轮询刷新。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1897380" cy="2103120"/>
          </a:xfrm>
          <a:prstGeom prst="roundRect">
            <a:avLst>
              <a:gd name="adj" fmla="val 33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1837944"/>
            <a:ext cx="16047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待验收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9744" y="2221992"/>
            <a:ext cx="160477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in_review。跑完等提交，员工点了提交进这个状态。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43700" y="1691640"/>
            <a:ext cx="1897380" cy="2103120"/>
          </a:xfrm>
          <a:prstGeom prst="roundRect">
            <a:avLst>
              <a:gd name="adj" fmla="val 33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90004" y="1837944"/>
            <a:ext cx="16047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已验收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90004" y="2221992"/>
            <a:ext cx="160477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done。主管验收通过，终态，节点不再重复执行。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95020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启动时把残留的「执行中」复位为「待执行」· 驳回退回「执行中」并附意见 · 状态不符的动作一律 409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94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118872" cy="3108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29768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 · 对话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平台上还有个能干活儿的 AI 对话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44805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图片直接多模态送模型，文本和代码类附件读正文拼进 prompt</a:t>
            </a:r>
            <a:endParaRPr lang="en-US" sz="1200" dirty="0"/>
          </a:p>
          <a:p>
            <a:pPr marL="152400" indent="-152400">
              <a:lnSpc>
                <a:spcPct val="12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能引用某段历史对话，一起丢给模型当上下文</a:t>
            </a:r>
            <a:endParaRPr lang="en-US" sz="1200" dirty="0"/>
          </a:p>
          <a:p>
            <a:pPr marL="152400" indent="-152400">
              <a:lnSpc>
                <a:spcPct val="12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会话按账号隔离，别人的会话读不到</a:t>
            </a:r>
            <a:endParaRPr lang="en-US" sz="1200" dirty="0"/>
          </a:p>
          <a:p>
            <a:pPr marL="152400" indent="-152400">
              <a:lnSpc>
                <a:spcPct val="12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历史长了自动压缩：未纳入摘要的原文超 400 字就合并成摘要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212080" y="1737360"/>
            <a:ext cx="34290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76672" y="1847088"/>
            <a:ext cx="3099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能调 Skill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76672" y="2157984"/>
            <a:ext cx="309981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function calling 调 .agents/skills 下的 skill：纯文档型只注入说明，含脚本型真的起进程跑，进度用 SSE 实时回传。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12080" y="3108960"/>
            <a:ext cx="34290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76672" y="3218688"/>
            <a:ext cx="3099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产物能拿走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76672" y="3529584"/>
            <a:ext cx="309981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跑完的文件直接给下载，多于一个就自动打包成 zip。内置六家模型供应商端点，随时能换。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94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23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118872" cy="3108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29768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 · 工单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每个节点挂一张工单，活都落在纸上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256032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837944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需求工单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9224" y="2221992"/>
            <a:ext cx="226771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每个管线节点自动挂一张，缺了会幂等补齐；节点面板上直接跳到工单。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256032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38144" y="1837944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指派工单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38144" y="2221992"/>
            <a:ext cx="226771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主管把人加进执行角色，自动生成一张「[执行] 步骤名」的指派工单。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691640"/>
            <a:ext cx="256032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27064" y="1837944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讨论与贴图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27064" y="2221992"/>
            <a:ext cx="226771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正文和评论支持 @ 提及成员、贴图；图片只认本地上传，文件名由服务端生成。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40233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可见性按部门：员工看本部门，主管看全量 · 状态只有主管能切 · 富文本落库前过白名单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94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23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118872" cy="3108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29768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 · 账号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账号、绑定、主页，一套走通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44805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员工自助绑 GitHub，先进待审核，主管批了才生效</a:t>
            </a:r>
            <a:endParaRPr lang="en-US" sz="1200" dirty="0"/>
          </a:p>
          <a:p>
            <a:pPr marL="152400" indent="-152400">
              <a:lnSpc>
                <a:spcPct val="12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主管自己绑即刻生效，也能直接审别人的绑定</a:t>
            </a:r>
            <a:endParaRPr lang="en-US" sz="1200" dirty="0"/>
          </a:p>
          <a:p>
            <a:pPr marL="152400" indent="-152400">
              <a:lnSpc>
                <a:spcPct val="12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点任意头像进个人主页，看部门、职位和绑定状态</a:t>
            </a:r>
            <a:endParaRPr lang="en-US" sz="1200" dirty="0"/>
          </a:p>
          <a:p>
            <a:pPr marL="152400" indent="-152400">
              <a:lnSpc>
                <a:spcPct val="12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首页能全局搜员工、工单和知识库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212080" y="1737360"/>
            <a:ext cx="34290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76672" y="1865376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376672" y="2395728"/>
            <a:ext cx="3099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76672" y="2633472"/>
            <a:ext cx="309981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个部门 · 5 位主管 · 不开放注册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212080" y="3154680"/>
            <a:ext cx="34290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76672" y="3282696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2MB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376672" y="3813048"/>
            <a:ext cx="3099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头像自传上限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76672" y="4050792"/>
            <a:ext cx="309981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png / jpg / gif / webp · 缺省回退首字配色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94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23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118872" cy="3108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29768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 · 实测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拿三个真实例子跑了一遍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不是看代码，是在真实仓库上真跑。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8138160" cy="18288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级别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代码特征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评审结果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推送结果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info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冗余封装，透传一行调用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条建议，通过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已推送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warning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键未校验、文件句柄未关闭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警告 + 1 建议，通过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已推送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blocker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源码硬编码真实密钥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条阻塞级，拦截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被拦下，未入库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94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23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118872" cy="3108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29768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 · 测试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测试做得不多，但该测的都测了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类型检查是第一道关；纯函数用 Node 自带测试模块覆盖；关键路径拿真模型端到端跑一遍。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25603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2340864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tsc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9224" y="2944368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类型门禁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" y="3200400"/>
            <a:ext cx="226771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strict 模式 · 唯一的自动化门禁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2194560"/>
            <a:ext cx="25603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38144" y="2340864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 项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438144" y="2944368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38144" y="3200400"/>
            <a:ext cx="226771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六个文件 · 评审链与平台的纯函数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2194560"/>
            <a:ext cx="25603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2340864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档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227064" y="2944368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27064" y="3200400"/>
            <a:ext cx="226771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info / warning / blocker 全跑通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94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/ 23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118872" cy="310896"/>
          </a:xfrm>
          <a:prstGeom prst="rect">
            <a:avLst/>
          </a:prstGeom>
          <a:solidFill>
            <a:srgbClr val="00C8F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29768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8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接下来要做的事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1897380" cy="2468880"/>
          </a:xfrm>
          <a:prstGeom prst="roundRect">
            <a:avLst>
              <a:gd name="adj" fmla="val 33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883664"/>
            <a:ext cx="16047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 · 补齐运营节点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9224" y="2267712"/>
            <a:ext cx="1604772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 04 接入运营动作。位置和权限都已经留好了。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83180" y="1737360"/>
            <a:ext cx="1897380" cy="2468880"/>
          </a:xfrm>
          <a:prstGeom prst="roundRect">
            <a:avLst>
              <a:gd name="adj" fmla="val 33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9484" y="1883664"/>
            <a:ext cx="16047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 · 把团队规范注进去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29484" y="2267712"/>
            <a:ext cx="1604772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现在的评审维度是内置的，接下来让评审按团队规范走：先从配置文件注入，再升级到规范目录和可复用的插件。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737360"/>
            <a:ext cx="1897380" cy="2468880"/>
          </a:xfrm>
          <a:prstGeom prst="roundRect">
            <a:avLst>
              <a:gd name="adj" fmla="val 33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1883664"/>
            <a:ext cx="16047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上线前 · 把安全债还掉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9744" y="2267712"/>
            <a:ext cx="1604772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演示密码换成 scrypt 加盐哈希、清掉演示账号、补上凭据管理和权限审计。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43700" y="1737360"/>
            <a:ext cx="1897380" cy="2468880"/>
          </a:xfrm>
          <a:prstGeom prst="roundRect">
            <a:avLst>
              <a:gd name="adj" fmla="val 33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90004" y="1883664"/>
            <a:ext cx="16047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之后 · 能查能回溯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90004" y="2267712"/>
            <a:ext cx="1604772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把报告目录托管成团队共享服务，历史评审能搜、能回溯，慢慢形成团队自己的质量基线。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94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评审不是监工，是来帮忙的。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377440"/>
            <a:ext cx="822960" cy="64008"/>
          </a:xfrm>
          <a:prstGeom prst="rect">
            <a:avLst/>
          </a:prstGeom>
          <a:solidFill>
            <a:srgbClr val="00C8F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651760"/>
            <a:ext cx="8138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标准统一、新人上手快、经验留下来。</a:t>
            </a:r>
            <a:endParaRPr lang="en-US" sz="1200" dirty="0"/>
          </a:p>
          <a:p>
            <a:pPr marL="152400" indent="-152400">
              <a:lnSpc>
                <a:spcPct val="12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评审放在 push 之前，人确认了才推。</a:t>
            </a:r>
            <a:endParaRPr lang="en-US" sz="1200" dirty="0"/>
          </a:p>
          <a:p>
            <a:pPr marL="152400" indent="-152400">
              <a:lnSpc>
                <a:spcPct val="12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运行时依赖只留一个，安全是前提。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2542</Words>
  <Application>Microsoft Office PowerPoint</Application>
  <PresentationFormat>全屏显示(16:9)</PresentationFormat>
  <Paragraphs>318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9" baseType="lpstr">
      <vt:lpstr>Microsoft YaHei</vt:lpstr>
      <vt:lpstr>Arial</vt:lpstr>
      <vt:lpstr>Calibri</vt:lpstr>
      <vt:lpstr>Consolas</vt:lpstr>
      <vt:lpstr>Rockwell Extra 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AI-FLOWS · AI 管线平台产品演示</dc:title>
  <dc:subject>PptxGenJS Presentation</dc:subject>
  <dc:creator>AI-FLOWS</dc:creator>
  <cp:lastModifiedBy>Yz Shen</cp:lastModifiedBy>
  <cp:revision>2</cp:revision>
  <dcterms:created xsi:type="dcterms:W3CDTF">2026-09-29T16:04:54Z</dcterms:created>
  <dcterms:modified xsi:type="dcterms:W3CDTF">2026-09-30T05:18:21Z</dcterms:modified>
</cp:coreProperties>
</file>